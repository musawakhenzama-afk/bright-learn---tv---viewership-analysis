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BrightTV 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DCFF"/>
                </a:solidFill>
              </a:defRPr>
            </a:pPr>
            <a:r>
              <a:t>Data-Driven Insights for Subscription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AC8"/>
                </a:solidFill>
              </a:defRPr>
            </a:pPr>
            <a:r>
              <a:t>BrightTV Growth Strategy | Q1 2016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10,000 viewing sessions from 4,386 unique users in Q1 2016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Average session duration: 9.1 minutes across diverse content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Clear consumption patterns present significant optimization opportunities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Geographic concentration in Gauteng indicates expansion potential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Engagement analysis reveals 72.8% of users are low-engagement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34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Total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66AD"/>
                </a:solidFill>
              </a:defRPr>
            </a:pPr>
            <a:r>
              <a:t>10,000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371600"/>
            <a:ext cx="347472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34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Unique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66AD"/>
                </a:solidFill>
              </a:defRPr>
            </a:pPr>
            <a:r>
              <a:t>4,386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347472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34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Avg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66AD"/>
                </a:solidFill>
              </a:defRPr>
            </a:pPr>
            <a:r>
              <a:t>9.1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017520"/>
            <a:ext cx="347472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34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Total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65760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66AD"/>
                </a:solidFill>
              </a:defRPr>
            </a:pPr>
            <a:r>
              <a:t>1,523 hrs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&amp; Usage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Viewing peaks on Friday-Saturday (33% of weekly sessions)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Monday shows lowest engagement (9.7% of total sessions)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Morning daypart dominates with 30.9% of all viewing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Sports &amp; Entertainment content accounts for 48.7% of all sessions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Geographic concentration: Gauteng 36.6% of user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Factors Influencing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66AD"/>
                </a:solidFill>
              </a:defRPr>
            </a:pPr>
            <a:r>
              <a:t>Content Type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Sports drives 23.7% of sessions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Entertainment captures 25.0%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Kids content: 15.1% (high growth)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Other content: 36.2% (diverse)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Temporal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Weekend boost (35% higher)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Morning peak (3,085 sessions)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Evening decline (1,730 sessions)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Midday secondary peak (2,532)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Geographic &amp; Demographic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Gauteng dominates with 1,607 users (36.6% penetration)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Secondary markets: Western Cape (770), KwaZulu-Natal (448)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Significant growth potential in Limpopo, Eastern Cape, Free State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Gender skew: 89.8% male, 9.8% female (retention opportunity)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Age range: 0-114, with median around 32 years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Low-Consumption Periods: 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66AD"/>
                </a:solidFill>
              </a:defRPr>
            </a:pPr>
            <a:r>
              <a:t>Monday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40% fewer sessions than peak days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Perfect for new content launches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Test premium content performance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Drive subscriber engagement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Evening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45% fewer sessions than morning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Opportunity for premium prime-time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Family-focused programming (5-8PM)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Sports event live streaming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Content Recommendations for Low-Consumption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Monday: Launch new series premieres &amp; exclusive content to boost engagement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Evening: Schedule live sports events &amp; reality TV to capture prime-time viewers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Afternoon: Transition programming between midday and evening peaks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All off-peak: Implement personalized recommendations based on user preferences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Weekday strategy: Rotate content to drive daily habit 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Growth Initiatives for User Base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66AD"/>
                </a:solidFill>
              </a:defRPr>
            </a:pPr>
            <a:r>
              <a:t>Acquisition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Geographic expansion in secondary provinces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Gender-targeted campaigns (female audience growth)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Family bundle offerings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Sports content partnerships (leverage 50% sports appeal)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Retention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Low-engagement user re-engagement programs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Content personalization engine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Premium tier development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Community-building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Tactical Growth Initiatives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66AD"/>
                </a:solidFill>
              </a:defRPr>
            </a:pPr>
            <a:r>
              <a:t>Product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Live streaming capabilities (sports events)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Download-for-offline viewing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Multi-user profiles per subscription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Social sharing &amp; referral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Marketing &amp; Partnerships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ISP partnerships for bundled offerings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Mobile operator collaborations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Content exclusivity deals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Influencer partnerships for high-value shows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1 (Month 1): Deploy analytics dashboard &amp; optimize content schedule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2 (Month 2): Launch Monday content initiative &amp; evening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3 (Month 3): Begin geographic expansion &amp; gender targeting campaigns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4 (Month 4): Implement retention programs for low-engagement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5 (Months 5-6): Scale successful initiatives &amp; measure ROI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Monthly Active Users (MAU) growth target: 15-20%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Average Session Duration increase: +30% to 12+ minutes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User Retention Rate: 65%+ month-over-month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Content Engagement Score: +25% for low-consumption periods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Geographic Penetration: Expand beyond Gauteng to 25% by month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61"/>
          </a:solidFill>
          <a:ln>
            <a:solidFill>
              <a:srgbClr val="0F2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Recommendations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Prioritize Monday &amp; evening content strategy (lowest hanging fruit)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Develop geographic expansion plan targeting secondary provinces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Implement engagement programs for 72.8% low-activity user segment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Leverage sports content (50% of viewership) for exclusive partnerships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Deploy real-time analytics dashboard for CVM team decision-making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Ready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DCFF"/>
                </a:solidFill>
              </a:defRPr>
            </a:pPr>
            <a:r>
              <a:t>Let's drive BrightTV subscription expansion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AC8"/>
                </a:solidFill>
              </a:defRPr>
            </a:pPr>
            <a:r>
              <a:t>BrightTV Growth Strategy | Q1 2016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